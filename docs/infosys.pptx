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68" r:id="rId13"/>
  </p:sldIdLst>
  <p:sldSz cx="12192000" cy="6858000"/>
  <p:notesSz cx="6858000" cy="12192000"/>
  <p:embeddedFontLst>
    <p:embeddedFont>
      <p:font typeface="Aptos Bold" panose="020B0604020202020204" charset="0"/>
      <p:bold r:id="rId15"/>
    </p:embeddedFont>
    <p:embeddedFont>
      <p:font typeface="Arial Black" panose="020B0A04020102020204" pitchFamily="34" charset="0"/>
      <p:bold r:id="rId16"/>
    </p:embeddedFont>
    <p:embeddedFont>
      <p:font typeface="DM Sans SemiBold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Inter Medium" panose="020B0604020202020204" charset="0"/>
      <p:regular r:id="rId19"/>
    </p:embeddedFont>
    <p:embeddedFont>
      <p:font typeface="Neue Haas Grotesk Text Pro" panose="020B0504020202020204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EB5808-99D1-F56A-A9B3-2D402BF6E5AA}" name="manogna lingala" initials="ml" userId="26dbe37ddf8eb99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1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757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644B8-46E3-C2A6-C69A-84B01148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8A813E-E218-9818-5C0D-1AF7631A7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F3654-EC4C-A3CF-0588-EB7BFB9A7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DA35B-DC30-B944-D1E9-56F461D37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52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4928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4625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76762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809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6901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4183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5562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678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7733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007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938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971120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0428128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6857339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2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47421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37252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85617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05912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3973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0335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98005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75720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58739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689853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354896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973392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93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17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6.svg"/><Relationship Id="rId11" Type="http://schemas.openxmlformats.org/officeDocument/2006/relationships/image" Target="../media/image21.jpeg"/><Relationship Id="rId5" Type="http://schemas.openxmlformats.org/officeDocument/2006/relationships/image" Target="../media/image15.sv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1" y="1992511"/>
            <a:ext cx="695597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Powered Healthcare Communication Assistant for Rural Communities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09600" y="4047927"/>
            <a:ext cx="4299857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AI-based multilingual healthcare assistance</a:t>
            </a:r>
            <a:endParaRPr lang="en-US" sz="14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965C696B-5842-34D1-81FD-77AA6C74D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CFBBA-3C22-9AD2-6B2C-4568D570E3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48382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6582"/>
            <a:ext cx="6296860" cy="1097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1526" y="159504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Language Barriers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971526" y="198745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Healthcare information difficult to understand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61642"/>
            <a:ext cx="6296860" cy="10977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1526" y="287010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Complex Prescriptions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971526" y="326251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Medical terms confuse rural patients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36702"/>
            <a:ext cx="6296860" cy="10977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26" y="414516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Accessibility Gap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71526" y="453757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Rural users lack accessible digital health help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211762"/>
            <a:ext cx="6296860" cy="10977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71526" y="5420221"/>
            <a:ext cx="577835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Communication Breakdown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971526" y="5812631"/>
            <a:ext cx="577835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information lost in translation</a:t>
            </a:r>
            <a:endParaRPr lang="en-US" sz="140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DF4D7A12-A230-D0BE-CCCA-D9E1BAE3A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39F653-3E53-307B-EFDF-9215A45FC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322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 Proposed Solution  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1431583" y="5058537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Translate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17393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Review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138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Upload Rx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03513" y="6008994"/>
            <a:ext cx="11236291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intelligent assistant that reads, understands, and communicates healthcare information in the patient's own language — with voice support.</a:t>
            </a:r>
            <a:endParaRPr lang="en-US" sz="12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208AF1-5DD1-134D-D63F-B829939A8C89}"/>
              </a:ext>
            </a:extLst>
          </p:cNvPr>
          <p:cNvSpPr/>
          <p:nvPr/>
        </p:nvSpPr>
        <p:spPr>
          <a:xfrm>
            <a:off x="979714" y="1262743"/>
            <a:ext cx="10556757" cy="4823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endParaRPr lang="en-US" sz="1650" dirty="0">
              <a:solidFill>
                <a:srgbClr val="464646"/>
              </a:solidFill>
              <a:latin typeface="DM Sans SemiBold" pitchFamily="34" charset="0"/>
              <a:ea typeface="DM Sans SemiBold" pitchFamily="34" charset="-122"/>
              <a:cs typeface="DM Sans SemiBold" pitchFamily="34" charset="-120"/>
            </a:endParaRP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 Prescription Scanner</a:t>
            </a:r>
          </a:p>
          <a:p>
            <a:pPr>
              <a:lnSpc>
                <a:spcPct val="104000"/>
              </a:lnSpc>
            </a:pPr>
            <a:r>
              <a:rPr lang="en-US" sz="1650" dirty="0">
                <a:solidFill>
                  <a:srgbClr val="464646"/>
                </a:solidFill>
                <a:latin typeface="DM Sans SemiBold" pitchFamily="34" charset="0"/>
                <a:ea typeface="Inter Medium" pitchFamily="34" charset="-122"/>
                <a:cs typeface="Inter Medium" pitchFamily="34" charset="-120"/>
              </a:rPr>
              <a:t>       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Mobile app captures handwritten prescriptions</a:t>
            </a:r>
          </a:p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</a:rPr>
              <a:t>      instantly</a:t>
            </a:r>
            <a:endParaRPr lang="en-US" dirty="0"/>
          </a:p>
          <a:p>
            <a:pPr algn="l">
              <a:lnSpc>
                <a:spcPct val="104000"/>
              </a:lnSpc>
            </a:pPr>
            <a:endParaRPr lang="en-US" sz="1650" dirty="0"/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Translation</a:t>
            </a:r>
            <a:endParaRPr lang="en-US" sz="1650" dirty="0"/>
          </a:p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Telugu, Hindi, and regional language output</a:t>
            </a:r>
            <a:endParaRPr lang="en-US" dirty="0"/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Voice Guidance</a:t>
            </a:r>
            <a:endParaRPr lang="en-US" sz="1650" dirty="0"/>
          </a:p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 Audio instructions for medication adherence</a:t>
            </a:r>
            <a:endParaRPr lang="en-US" dirty="0"/>
          </a:p>
          <a:p>
            <a:pPr algn="l">
              <a:lnSpc>
                <a:spcPct val="104000"/>
              </a:lnSpc>
            </a:pPr>
            <a:r>
              <a:rPr lang="en-US" sz="1650" dirty="0"/>
              <a:t> </a:t>
            </a:r>
          </a:p>
          <a:p>
            <a:pPr marL="285750" indent="-285750" algn="l">
              <a:lnSpc>
                <a:spcPct val="104000"/>
              </a:lnSpc>
              <a:buFont typeface="Wingdings" panose="05000000000000000000" pitchFamily="2" charset="2"/>
              <a:buChar char="Ø"/>
            </a:pPr>
            <a:endParaRPr lang="en-US" sz="1650" dirty="0"/>
          </a:p>
          <a:p>
            <a:pPr marL="285750" indent="-285750">
              <a:lnSpc>
                <a:spcPct val="104000"/>
              </a:lnSpc>
              <a:buFont typeface="Wingdings" panose="05000000000000000000" pitchFamily="2" charset="2"/>
              <a:buChar char="Ø"/>
            </a:pPr>
            <a:r>
              <a:rPr lang="en-US" sz="16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Health Vault</a:t>
            </a:r>
            <a:endParaRPr lang="en-US" sz="1650" dirty="0"/>
          </a:p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   Secure digital storage of all prescription records</a:t>
            </a:r>
            <a:endParaRPr lang="en-US" dirty="0"/>
          </a:p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E54CE2CD-30AC-5CF4-EC3C-EFFFDB6C5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885" y="1262743"/>
            <a:ext cx="4362786" cy="4101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A58BC1-47A8-D888-2BC6-ABA7CB5A5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0"/>
            <a:ext cx="12192000" cy="6850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7567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Features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05024"/>
            <a:ext cx="318881" cy="3188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792089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Prescription Upload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121892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Capture and submit prescription images instantly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9884" y="1305024"/>
            <a:ext cx="318881" cy="31888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9884" y="1792089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Extraction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179884" y="2121892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AI reads and parses medical data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626122"/>
            <a:ext cx="318881" cy="31888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113187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Multilingual Translation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661475" y="3442990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Converts content to local language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9884" y="2626122"/>
            <a:ext cx="318881" cy="31888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9884" y="3113187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Text-to-Speech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179884" y="3442990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Audio playback for low-literacy users</a:t>
            </a:r>
            <a:endParaRPr lang="en-US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47220"/>
            <a:ext cx="318881" cy="3188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434284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Assistant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661475" y="4764088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Context-aware prescription Q&amp;A support</a:t>
            </a:r>
            <a:endParaRPr lang="en-US" sz="12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9884" y="3947220"/>
            <a:ext cx="318881" cy="31888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79884" y="4434284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Emergency Support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6179884" y="4764088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emergency contact and guidance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68317"/>
            <a:ext cx="318881" cy="31888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755382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First Aid Guidance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661475" y="6085185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Step-by-step basic first aid instructions</a:t>
            </a:r>
            <a:endParaRPr lang="en-US" sz="12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9884" y="5268317"/>
            <a:ext cx="318881" cy="31888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79884" y="5755382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Medicine Reminders</a:t>
            </a:r>
            <a:endParaRPr lang="en-US" sz="1550" dirty="0"/>
          </a:p>
        </p:txBody>
      </p:sp>
      <p:sp>
        <p:nvSpPr>
          <p:cNvPr id="26" name="Text 16"/>
          <p:cNvSpPr/>
          <p:nvPr/>
        </p:nvSpPr>
        <p:spPr>
          <a:xfrm>
            <a:off x="6179884" y="6085185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Scheduled alerts for dosage compliance</a:t>
            </a:r>
            <a:endParaRPr lang="en-US" sz="125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1D5B2BC-662D-6652-0A5C-9B92ECF1D2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1372"/>
            <a:ext cx="10868745" cy="805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DB527B7B-10AF-B6BA-DA9E-3383795ECDCD}"/>
              </a:ext>
            </a:extLst>
          </p:cNvPr>
          <p:cNvSpPr/>
          <p:nvPr/>
        </p:nvSpPr>
        <p:spPr>
          <a:xfrm>
            <a:off x="661475" y="2637095"/>
            <a:ext cx="5116496" cy="45719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59C94B60-7F3F-920E-6BB8-ED552B31C33F}"/>
              </a:ext>
            </a:extLst>
          </p:cNvPr>
          <p:cNvSpPr/>
          <p:nvPr/>
        </p:nvSpPr>
        <p:spPr>
          <a:xfrm>
            <a:off x="661475" y="524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039C85A4-A044-2FAA-FCC8-042565FB797C}"/>
              </a:ext>
            </a:extLst>
          </p:cNvPr>
          <p:cNvSpPr/>
          <p:nvPr/>
        </p:nvSpPr>
        <p:spPr>
          <a:xfrm>
            <a:off x="525350" y="1398984"/>
            <a:ext cx="5476043" cy="4934148"/>
          </a:xfrm>
          <a:prstGeom prst="roundRect">
            <a:avLst>
              <a:gd name="adj" fmla="val 575"/>
            </a:avLst>
          </a:prstGeom>
          <a:solidFill>
            <a:srgbClr val="001F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FC37E86E-34EF-1DFF-CE1F-6FF3FC9DD852}"/>
              </a:ext>
            </a:extLst>
          </p:cNvPr>
          <p:cNvSpPr/>
          <p:nvPr/>
        </p:nvSpPr>
        <p:spPr>
          <a:xfrm>
            <a:off x="714357" y="1587996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F0315E9E-2E2E-7090-EDC2-FCE99239AAD1}"/>
              </a:ext>
            </a:extLst>
          </p:cNvPr>
          <p:cNvSpPr/>
          <p:nvPr/>
        </p:nvSpPr>
        <p:spPr>
          <a:xfrm>
            <a:off x="714357" y="2072283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Django REST API</a:t>
            </a:r>
            <a:endParaRPr lang="en-US" sz="1450" dirty="0"/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98CAD22E-01F9-ADD2-6D61-802232CB09C2}"/>
              </a:ext>
            </a:extLst>
          </p:cNvPr>
          <p:cNvSpPr/>
          <p:nvPr/>
        </p:nvSpPr>
        <p:spPr>
          <a:xfrm>
            <a:off x="714357" y="2634555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6CED51E0-9917-A58E-0044-10D26B9CCC06}"/>
              </a:ext>
            </a:extLst>
          </p:cNvPr>
          <p:cNvSpPr/>
          <p:nvPr/>
        </p:nvSpPr>
        <p:spPr>
          <a:xfrm>
            <a:off x="714357" y="2919809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B74CE84A-EC0D-2C6F-FC5D-AFE683F8136F}"/>
              </a:ext>
            </a:extLst>
          </p:cNvPr>
          <p:cNvSpPr/>
          <p:nvPr/>
        </p:nvSpPr>
        <p:spPr>
          <a:xfrm>
            <a:off x="714357" y="3404096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Native</a:t>
            </a:r>
            <a:endParaRPr lang="en-US" sz="145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3728B92F-C2CC-CB13-7E03-B9DC4961AB05}"/>
              </a:ext>
            </a:extLst>
          </p:cNvPr>
          <p:cNvSpPr/>
          <p:nvPr/>
        </p:nvSpPr>
        <p:spPr>
          <a:xfrm>
            <a:off x="714357" y="3966369"/>
            <a:ext cx="5098029" cy="2540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93DB959E-C2A0-66F9-2CF0-AAD0AB2C6304}"/>
              </a:ext>
            </a:extLst>
          </p:cNvPr>
          <p:cNvSpPr/>
          <p:nvPr/>
        </p:nvSpPr>
        <p:spPr>
          <a:xfrm>
            <a:off x="714357" y="4251623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3553BF4E-054E-4724-A73B-12EB6E7649F2}"/>
              </a:ext>
            </a:extLst>
          </p:cNvPr>
          <p:cNvSpPr/>
          <p:nvPr/>
        </p:nvSpPr>
        <p:spPr>
          <a:xfrm>
            <a:off x="714357" y="4735909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4166ADC9-0B69-9CC8-72DE-1621A30BCE14}"/>
              </a:ext>
            </a:extLst>
          </p:cNvPr>
          <p:cNvSpPr/>
          <p:nvPr/>
        </p:nvSpPr>
        <p:spPr>
          <a:xfrm>
            <a:off x="6332776" y="158799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/ ML</a:t>
            </a:r>
            <a:endParaRPr lang="en-US" sz="1850" dirty="0"/>
          </a:p>
        </p:txBody>
      </p:sp>
      <p:pic>
        <p:nvPicPr>
          <p:cNvPr id="52" name="Image 0" descr="preencoded.png">
            <a:extLst>
              <a:ext uri="{FF2B5EF4-FFF2-40B4-BE49-F238E27FC236}">
                <a16:creationId xmlns:a16="http://schemas.microsoft.com/office/drawing/2014/main" id="{F9EC704C-1D01-C24F-A60F-2BE1FA956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095897"/>
            <a:ext cx="5203794" cy="1215529"/>
          </a:xfrm>
          <a:prstGeom prst="rect">
            <a:avLst/>
          </a:prstGeom>
        </p:spPr>
      </p:pic>
      <p:sp>
        <p:nvSpPr>
          <p:cNvPr id="54" name="Text 11">
            <a:extLst>
              <a:ext uri="{FF2B5EF4-FFF2-40B4-BE49-F238E27FC236}">
                <a16:creationId xmlns:a16="http://schemas.microsoft.com/office/drawing/2014/main" id="{272E1698-01A4-1669-B03C-B3ECB7B8BA05}"/>
              </a:ext>
            </a:extLst>
          </p:cNvPr>
          <p:cNvSpPr/>
          <p:nvPr/>
        </p:nvSpPr>
        <p:spPr>
          <a:xfrm>
            <a:off x="6648780" y="231030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Gemini 1.5 Flash</a:t>
            </a:r>
            <a:endParaRPr lang="en-US" sz="1850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BE1673DB-34B9-7977-9905-1BDB02AE8B97}"/>
              </a:ext>
            </a:extLst>
          </p:cNvPr>
          <p:cNvSpPr/>
          <p:nvPr/>
        </p:nvSpPr>
        <p:spPr>
          <a:xfrm>
            <a:off x="6648780" y="2794595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Primary AI model for translation &amp; understanding</a:t>
            </a:r>
            <a:endParaRPr lang="en-US" sz="145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CC9748DE-CB06-7ACA-A463-E6C80E4D45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3500437"/>
            <a:ext cx="5203794" cy="1215529"/>
          </a:xfrm>
          <a:prstGeom prst="rect">
            <a:avLst/>
          </a:prstGeom>
        </p:spPr>
      </p:pic>
      <p:sp>
        <p:nvSpPr>
          <p:cNvPr id="60" name="Text 13">
            <a:extLst>
              <a:ext uri="{FF2B5EF4-FFF2-40B4-BE49-F238E27FC236}">
                <a16:creationId xmlns:a16="http://schemas.microsoft.com/office/drawing/2014/main" id="{85BAB322-BA1C-8519-8126-A1CB87B4A5FF}"/>
              </a:ext>
            </a:extLst>
          </p:cNvPr>
          <p:cNvSpPr/>
          <p:nvPr/>
        </p:nvSpPr>
        <p:spPr>
          <a:xfrm>
            <a:off x="6648780" y="3714849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OCR Engine</a:t>
            </a:r>
            <a:endParaRPr lang="en-US" sz="1850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44D2BDF7-7B89-FB04-84C1-D7841994A60B}"/>
              </a:ext>
            </a:extLst>
          </p:cNvPr>
          <p:cNvSpPr/>
          <p:nvPr/>
        </p:nvSpPr>
        <p:spPr>
          <a:xfrm>
            <a:off x="6648780" y="4199136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Handwritten text recognition from images</a:t>
            </a:r>
            <a:endParaRPr lang="en-US" sz="145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2DB479CD-2FFE-4007-6F4E-5CDB200F6F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4904978"/>
            <a:ext cx="5203794" cy="1215529"/>
          </a:xfrm>
          <a:prstGeom prst="rect">
            <a:avLst/>
          </a:prstGeom>
        </p:spPr>
      </p:pic>
      <p:sp>
        <p:nvSpPr>
          <p:cNvPr id="66" name="Text 15">
            <a:extLst>
              <a:ext uri="{FF2B5EF4-FFF2-40B4-BE49-F238E27FC236}">
                <a16:creationId xmlns:a16="http://schemas.microsoft.com/office/drawing/2014/main" id="{A2D01678-A21B-EC3D-DEBC-627E8FFDD1D3}"/>
              </a:ext>
            </a:extLst>
          </p:cNvPr>
          <p:cNvSpPr/>
          <p:nvPr/>
        </p:nvSpPr>
        <p:spPr>
          <a:xfrm>
            <a:off x="6648780" y="5119390"/>
            <a:ext cx="46733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JWT Authentication</a:t>
            </a:r>
            <a:endParaRPr lang="en-US" sz="185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A5D1A341-269B-05FE-C9E7-303ED79AE222}"/>
              </a:ext>
            </a:extLst>
          </p:cNvPr>
          <p:cNvSpPr/>
          <p:nvPr/>
        </p:nvSpPr>
        <p:spPr>
          <a:xfrm>
            <a:off x="6648780" y="5603677"/>
            <a:ext cx="467338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Secure token-based user access control</a:t>
            </a:r>
            <a:endParaRPr lang="en-US" sz="14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420207-A7F9-04C4-B558-D4B0890EB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1415341"/>
            <a:ext cx="5315512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Layered Architecture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221058" y="2471058"/>
            <a:ext cx="5315512" cy="159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frontend — responsive UI</a:t>
            </a:r>
            <a:endParaRPr lang="en-US" sz="20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Django REST API — secure endpoints</a:t>
            </a:r>
            <a:endParaRPr lang="en-US" sz="20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AI — core intelligence layer</a:t>
            </a:r>
            <a:endParaRPr lang="en-US" sz="20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PostgreSQL — reliable data storage</a:t>
            </a:r>
            <a:endParaRPr lang="en-US" sz="20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JWT — authenticated user sessions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163CE-E0C1-547C-FE2C-DE346117D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" y="0"/>
            <a:ext cx="1217846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97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Roadmap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2117077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6" name="Text 4"/>
          <p:cNvSpPr/>
          <p:nvPr/>
        </p:nvSpPr>
        <p:spPr>
          <a:xfrm>
            <a:off x="1988046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1848445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01 — Planning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2257127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Requirements gathering &amp; system design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703446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9"/>
          <p:cNvSpPr/>
          <p:nvPr/>
        </p:nvSpPr>
        <p:spPr>
          <a:xfrm>
            <a:off x="3574415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36851" y="466933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02 — UI &amp; Backend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436851" y="5078016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React frontend &amp; Django API setup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289914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5160883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023319" y="1848445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03 — AI Integration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4023319" y="2257127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Gemini AI prescription extraction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76283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6747252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09688" y="4669334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04 — Translation &amp; Voice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609688" y="5373291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Multilingual support &amp; text-to-speech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462751" y="3346252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26" name="Text 24"/>
          <p:cNvSpPr/>
          <p:nvPr/>
        </p:nvSpPr>
        <p:spPr>
          <a:xfrm>
            <a:off x="8333720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96156" y="18484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05 — Emergency &amp; First Aid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196156" y="2552402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Safety features &amp; guidance modules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10049120" y="3913287"/>
            <a:ext cx="25399" cy="567035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31" name="Text 29"/>
          <p:cNvSpPr/>
          <p:nvPr/>
        </p:nvSpPr>
        <p:spPr>
          <a:xfrm>
            <a:off x="9920089" y="373608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782525" y="4669334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06 — Testing &amp; Deploy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8782525" y="5078016"/>
            <a:ext cx="255858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QA, Postman validation &amp; launch</a:t>
            </a:r>
            <a:endParaRPr lang="en-US" sz="1450" dirty="0"/>
          </a:p>
        </p:txBody>
      </p:sp>
      <p:grpSp>
        <p:nvGrpSpPr>
          <p:cNvPr id="37" name="Group 8">
            <a:extLst>
              <a:ext uri="{FF2B5EF4-FFF2-40B4-BE49-F238E27FC236}">
                <a16:creationId xmlns:a16="http://schemas.microsoft.com/office/drawing/2014/main" id="{91F77488-8957-C5DD-1B0E-F45C534CAA98}"/>
              </a:ext>
            </a:extLst>
          </p:cNvPr>
          <p:cNvGrpSpPr/>
          <p:nvPr/>
        </p:nvGrpSpPr>
        <p:grpSpPr>
          <a:xfrm flipV="1">
            <a:off x="661475" y="3863917"/>
            <a:ext cx="10628844" cy="403923"/>
            <a:chOff x="-2" y="-38100"/>
            <a:chExt cx="20955002" cy="255803"/>
          </a:xfrm>
        </p:grpSpPr>
        <p:sp>
          <p:nvSpPr>
            <p:cNvPr id="38" name="Freeform 9">
              <a:extLst>
                <a:ext uri="{FF2B5EF4-FFF2-40B4-BE49-F238E27FC236}">
                  <a16:creationId xmlns:a16="http://schemas.microsoft.com/office/drawing/2014/main" id="{6896E7CA-1304-5439-694E-A821907757C8}"/>
                </a:ext>
              </a:extLst>
            </p:cNvPr>
            <p:cNvSpPr/>
            <p:nvPr/>
          </p:nvSpPr>
          <p:spPr>
            <a:xfrm>
              <a:off x="-2" y="141503"/>
              <a:ext cx="20955000" cy="76200"/>
            </a:xfrm>
            <a:custGeom>
              <a:avLst/>
              <a:gdLst/>
              <a:ahLst/>
              <a:cxnLst/>
              <a:rect l="l" t="t" r="r" b="b"/>
              <a:pathLst>
                <a:path w="20955000" h="76200">
                  <a:moveTo>
                    <a:pt x="0" y="0"/>
                  </a:moveTo>
                  <a:lnTo>
                    <a:pt x="20955000" y="0"/>
                  </a:lnTo>
                  <a:lnTo>
                    <a:pt x="20955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B9D4D1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10">
              <a:extLst>
                <a:ext uri="{FF2B5EF4-FFF2-40B4-BE49-F238E27FC236}">
                  <a16:creationId xmlns:a16="http://schemas.microsoft.com/office/drawing/2014/main" id="{C3FC2965-1578-C973-F17B-4EF0CC22A0AA}"/>
                </a:ext>
              </a:extLst>
            </p:cNvPr>
            <p:cNvSpPr txBox="1"/>
            <p:nvPr/>
          </p:nvSpPr>
          <p:spPr>
            <a:xfrm>
              <a:off x="0" y="-38100"/>
              <a:ext cx="20955000" cy="114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1" name="Freeform 25">
            <a:extLst>
              <a:ext uri="{FF2B5EF4-FFF2-40B4-BE49-F238E27FC236}">
                <a16:creationId xmlns:a16="http://schemas.microsoft.com/office/drawing/2014/main" id="{33A48F66-9C90-CF00-D6E0-27AB4AD83293}"/>
              </a:ext>
            </a:extLst>
          </p:cNvPr>
          <p:cNvSpPr/>
          <p:nvPr/>
        </p:nvSpPr>
        <p:spPr>
          <a:xfrm>
            <a:off x="9897142" y="3700661"/>
            <a:ext cx="333854" cy="339701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45" name="Freeform 25">
            <a:extLst>
              <a:ext uri="{FF2B5EF4-FFF2-40B4-BE49-F238E27FC236}">
                <a16:creationId xmlns:a16="http://schemas.microsoft.com/office/drawing/2014/main" id="{A1159E78-D6DC-02AA-9321-9AA69F0C3C0F}"/>
              </a:ext>
            </a:extLst>
          </p:cNvPr>
          <p:cNvSpPr/>
          <p:nvPr/>
        </p:nvSpPr>
        <p:spPr>
          <a:xfrm>
            <a:off x="8310673" y="3685953"/>
            <a:ext cx="333854" cy="35440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5</a:t>
            </a:r>
          </a:p>
        </p:txBody>
      </p:sp>
      <p:sp>
        <p:nvSpPr>
          <p:cNvPr id="47" name="Freeform 25">
            <a:extLst>
              <a:ext uri="{FF2B5EF4-FFF2-40B4-BE49-F238E27FC236}">
                <a16:creationId xmlns:a16="http://schemas.microsoft.com/office/drawing/2014/main" id="{9EB94471-D825-762D-95B7-31EE57B2A3BD}"/>
              </a:ext>
            </a:extLst>
          </p:cNvPr>
          <p:cNvSpPr/>
          <p:nvPr/>
        </p:nvSpPr>
        <p:spPr>
          <a:xfrm>
            <a:off x="6742208" y="3700661"/>
            <a:ext cx="318947" cy="35440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4</a:t>
            </a:r>
          </a:p>
        </p:txBody>
      </p:sp>
      <p:sp>
        <p:nvSpPr>
          <p:cNvPr id="49" name="Freeform 25">
            <a:extLst>
              <a:ext uri="{FF2B5EF4-FFF2-40B4-BE49-F238E27FC236}">
                <a16:creationId xmlns:a16="http://schemas.microsoft.com/office/drawing/2014/main" id="{7B711783-E3EA-3492-4653-FA8744F871D6}"/>
              </a:ext>
            </a:extLst>
          </p:cNvPr>
          <p:cNvSpPr/>
          <p:nvPr/>
        </p:nvSpPr>
        <p:spPr>
          <a:xfrm>
            <a:off x="5130440" y="3721921"/>
            <a:ext cx="313805" cy="35440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3</a:t>
            </a:r>
          </a:p>
        </p:txBody>
      </p:sp>
      <p:sp>
        <p:nvSpPr>
          <p:cNvPr id="51" name="Freeform 25">
            <a:extLst>
              <a:ext uri="{FF2B5EF4-FFF2-40B4-BE49-F238E27FC236}">
                <a16:creationId xmlns:a16="http://schemas.microsoft.com/office/drawing/2014/main" id="{E35AC94A-0CDC-17A8-7CA2-A44713AC291A}"/>
              </a:ext>
            </a:extLst>
          </p:cNvPr>
          <p:cNvSpPr/>
          <p:nvPr/>
        </p:nvSpPr>
        <p:spPr>
          <a:xfrm>
            <a:off x="3544071" y="3736082"/>
            <a:ext cx="348155" cy="318988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2</a:t>
            </a:r>
          </a:p>
        </p:txBody>
      </p:sp>
      <p:sp>
        <p:nvSpPr>
          <p:cNvPr id="53" name="Freeform 25">
            <a:extLst>
              <a:ext uri="{FF2B5EF4-FFF2-40B4-BE49-F238E27FC236}">
                <a16:creationId xmlns:a16="http://schemas.microsoft.com/office/drawing/2014/main" id="{0BD866EC-E0D6-F24B-4A8D-792754E9AED9}"/>
              </a:ext>
            </a:extLst>
          </p:cNvPr>
          <p:cNvSpPr/>
          <p:nvPr/>
        </p:nvSpPr>
        <p:spPr>
          <a:xfrm>
            <a:off x="1983002" y="3797916"/>
            <a:ext cx="318848" cy="339569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0"/>
                </a:moveTo>
                <a:cubicBezTo>
                  <a:pt x="492850" y="0"/>
                  <a:pt x="635000" y="142150"/>
                  <a:pt x="635000" y="317500"/>
                </a:cubicBezTo>
                <a:cubicBezTo>
                  <a:pt x="635000" y="492850"/>
                  <a:pt x="492850" y="635000"/>
                  <a:pt x="317500" y="635000"/>
                </a:cubicBezTo>
                <a:cubicBezTo>
                  <a:pt x="142150" y="635000"/>
                  <a:pt x="0" y="492850"/>
                  <a:pt x="0" y="317500"/>
                </a:cubicBezTo>
                <a:cubicBezTo>
                  <a:pt x="0" y="142150"/>
                  <a:pt x="142150" y="0"/>
                  <a:pt x="317500" y="0"/>
                </a:cubicBezTo>
                <a:close/>
              </a:path>
            </a:pathLst>
          </a:custGeom>
          <a:solidFill>
            <a:srgbClr val="168B85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en-IN" dirty="0"/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BCFE1F-CEB8-979B-1546-E8CE261C2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Makes It Unique?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1502229"/>
            <a:ext cx="5315512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Built for Rural India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21058" y="2623457"/>
            <a:ext cx="5315512" cy="21009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Designed for low-literacy rural users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AI-powered prescription understanding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Multilingual healthcare communication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Text </a:t>
            </a:r>
            <a:r>
              <a:rPr lang="en-US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</a:t>
            </a: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voice dual accessibility</a:t>
            </a:r>
            <a:endParaRPr lang="en-US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r>
              <a:rPr lang="en-US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assistant with prescription context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1FF355-24CD-FE59-6C79-6C3E37F75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6" y="195943"/>
            <a:ext cx="5859068" cy="620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37"/>
              </a:lnSpc>
            </a:pPr>
            <a:r>
              <a:rPr lang="en-US" sz="3200" b="1" dirty="0">
                <a:solidFill>
                  <a:srgbClr val="123C4A"/>
                </a:solidFill>
                <a:latin typeface="Arial Black" panose="020B0A04020102020204" pitchFamily="34" charset="0"/>
                <a:ea typeface="Armies Display"/>
                <a:cs typeface="Armies Display"/>
                <a:sym typeface="Armies Display"/>
              </a:rPr>
              <a:t>Challenges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420B78F-1E6A-F58A-B91F-935240D8FAE2}"/>
              </a:ext>
            </a:extLst>
          </p:cNvPr>
          <p:cNvSpPr/>
          <p:nvPr/>
        </p:nvSpPr>
        <p:spPr>
          <a:xfrm>
            <a:off x="6836229" y="0"/>
            <a:ext cx="5355771" cy="6858000"/>
          </a:xfrm>
          <a:custGeom>
            <a:avLst/>
            <a:gdLst/>
            <a:ahLst/>
            <a:cxnLst/>
            <a:rect l="l" t="t" r="r" b="b"/>
            <a:pathLst>
              <a:path w="6953250" h="5810250">
                <a:moveTo>
                  <a:pt x="0" y="0"/>
                </a:moveTo>
                <a:lnTo>
                  <a:pt x="6953250" y="0"/>
                </a:lnTo>
                <a:lnTo>
                  <a:pt x="695325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277" r="-24277"/>
            </a:stretch>
          </a:blipFill>
          <a:ln cap="sq">
            <a:noFill/>
            <a:prstDash val="solid"/>
            <a:miter/>
          </a:ln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1EC775F-ECDB-1795-909F-6A6EA1D62B73}"/>
              </a:ext>
            </a:extLst>
          </p:cNvPr>
          <p:cNvSpPr txBox="1"/>
          <p:nvPr/>
        </p:nvSpPr>
        <p:spPr>
          <a:xfrm>
            <a:off x="95552" y="986021"/>
            <a:ext cx="674067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Prescription Recognition</a:t>
            </a:r>
            <a:br>
              <a:rPr lang="en-IN" dirty="0"/>
            </a:br>
            <a:r>
              <a:rPr lang="en-IN" dirty="0"/>
              <a:t>Difficulty in accurately extracting information from handwritten prescriptions.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Medical Information Accuracy</a:t>
            </a:r>
            <a:br>
              <a:rPr lang="en-IN" dirty="0"/>
            </a:br>
            <a:r>
              <a:rPr lang="en-IN" dirty="0"/>
              <a:t>Ensuring medicine names, dosage, timing and instructions are extracted correctly.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Language Translation</a:t>
            </a:r>
            <a:br>
              <a:rPr lang="en-IN" dirty="0"/>
            </a:br>
            <a:r>
              <a:rPr lang="en-IN" dirty="0"/>
              <a:t>Maintaining the correct meaning of medical information across different languages.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Internet Dependency</a:t>
            </a:r>
            <a:br>
              <a:rPr lang="en-IN" dirty="0"/>
            </a:br>
            <a:r>
              <a:rPr lang="en-IN" dirty="0"/>
              <a:t>AI and translation services may be affected by poor connectivity in rural areas.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75D3F-7DA6-1264-AA82-BB1F24ACA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9992" y="685801"/>
            <a:ext cx="10868745" cy="80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Future Scope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1133943" y="2791192"/>
            <a:ext cx="4843738" cy="234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3915" y="2439789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6383" y="2448024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Format Variation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86383" y="2856706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prescription layouts across regions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33943" y="3578423"/>
            <a:ext cx="4843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133943" y="3987105"/>
            <a:ext cx="484373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3570188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6383" y="3578423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Translation Fidelity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686383" y="3987105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Medical accuracy across all languages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133943" y="4708823"/>
            <a:ext cx="484373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046858" y="5064989"/>
            <a:ext cx="484373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3915" y="4700588"/>
            <a:ext cx="283461" cy="2834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86383" y="4708823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AI Safety &amp; Reliability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686383" y="5117505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Ensuring clinically safe AI responses</a:t>
            </a:r>
            <a:endParaRPr lang="en-US" sz="14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ED361F6-2E27-C0A3-2F17-3919AD23E7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4060E3-9EA9-BFB4-598C-875D8F4E7609}"/>
              </a:ext>
            </a:extLst>
          </p:cNvPr>
          <p:cNvSpPr txBox="1"/>
          <p:nvPr/>
        </p:nvSpPr>
        <p:spPr>
          <a:xfrm>
            <a:off x="1023257" y="2144486"/>
            <a:ext cx="81207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Provides </a:t>
            </a:r>
            <a:r>
              <a:rPr lang="en-IN" sz="2400" b="1" dirty="0"/>
              <a:t>easy and understandable healthcare communication</a:t>
            </a:r>
            <a:r>
              <a:rPr lang="en-IN" sz="2400" dirty="0"/>
              <a:t> for rural communities.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Uses </a:t>
            </a:r>
            <a:r>
              <a:rPr lang="en-IN" sz="2400" b="1" dirty="0"/>
              <a:t>AI and multilingual support</a:t>
            </a:r>
            <a:r>
              <a:rPr lang="en-IN" sz="2400" dirty="0"/>
              <a:t> to reduce language barriers.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Helps patients </a:t>
            </a:r>
            <a:r>
              <a:rPr lang="en-IN" sz="2400" b="1" dirty="0"/>
              <a:t>access healthcare information and services easily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Improves communication between </a:t>
            </a:r>
            <a:r>
              <a:rPr lang="en-IN" sz="2400" b="1" dirty="0"/>
              <a:t>patients and healthcare providers</a:t>
            </a:r>
            <a:r>
              <a:rPr lang="en-IN" sz="24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Makes healthcare </a:t>
            </a:r>
            <a:r>
              <a:rPr lang="en-IN" sz="2400" b="1" dirty="0"/>
              <a:t>more accessible, inclusive, and user-friendly</a:t>
            </a:r>
            <a:r>
              <a:rPr lang="en-IN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1E105-57B8-9EFC-A048-88F17204508A}"/>
              </a:ext>
            </a:extLst>
          </p:cNvPr>
          <p:cNvSpPr txBox="1"/>
          <p:nvPr/>
        </p:nvSpPr>
        <p:spPr>
          <a:xfrm>
            <a:off x="1371600" y="1371600"/>
            <a:ext cx="722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>
                <a:latin typeface="Arial Black" panose="020B0A04020102020204" pitchFamily="34" charset="0"/>
              </a:rPr>
              <a:t>Conclusion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F33125-DCD7-B0AC-E511-CCA93E1FA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27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E475-0968-D8D9-4A44-3E699E1A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7055AB-ADE2-9B0C-B443-34379C1F99EF}"/>
              </a:ext>
            </a:extLst>
          </p:cNvPr>
          <p:cNvSpPr/>
          <p:nvPr/>
        </p:nvSpPr>
        <p:spPr>
          <a:xfrm>
            <a:off x="661475" y="14380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8A86FB4-D706-74AA-D7C0-C4E157FBE714}"/>
              </a:ext>
            </a:extLst>
          </p:cNvPr>
          <p:cNvSpPr/>
          <p:nvPr/>
        </p:nvSpPr>
        <p:spPr>
          <a:xfrm>
            <a:off x="7198012" y="2172790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FD396A7-1877-5A6C-B6F5-6B37B59D3607}"/>
              </a:ext>
            </a:extLst>
          </p:cNvPr>
          <p:cNvSpPr/>
          <p:nvPr/>
        </p:nvSpPr>
        <p:spPr>
          <a:xfrm>
            <a:off x="6686383" y="2856706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2E02774-0711-4241-BB73-38805CF329B0}"/>
              </a:ext>
            </a:extLst>
          </p:cNvPr>
          <p:cNvSpPr/>
          <p:nvPr/>
        </p:nvSpPr>
        <p:spPr>
          <a:xfrm>
            <a:off x="6686383" y="3987105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2FD5C4D8-D68C-BD68-0487-0AA0D811C16C}"/>
              </a:ext>
            </a:extLst>
          </p:cNvPr>
          <p:cNvSpPr/>
          <p:nvPr/>
        </p:nvSpPr>
        <p:spPr>
          <a:xfrm>
            <a:off x="6686383" y="4708823"/>
            <a:ext cx="4843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28093F77-6F1B-73BB-0A11-961C7A214A0A}"/>
              </a:ext>
            </a:extLst>
          </p:cNvPr>
          <p:cNvSpPr/>
          <p:nvPr/>
        </p:nvSpPr>
        <p:spPr>
          <a:xfrm>
            <a:off x="6240068" y="3722488"/>
            <a:ext cx="4843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B711ADAE-C372-816F-3EA1-2A03BC79024A}"/>
              </a:ext>
            </a:extLst>
          </p:cNvPr>
          <p:cNvSpPr txBox="1"/>
          <p:nvPr/>
        </p:nvSpPr>
        <p:spPr>
          <a:xfrm>
            <a:off x="914400" y="2867025"/>
            <a:ext cx="8572500" cy="263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7"/>
              </a:lnSpc>
            </a:pPr>
            <a:r>
              <a:rPr lang="en-US" sz="2000" dirty="0">
                <a:solidFill>
                  <a:srgbClr val="FFFFFF"/>
                </a:solidFill>
                <a:latin typeface="Armies Display"/>
                <a:ea typeface="Armies Display"/>
                <a:cs typeface="Armies Display"/>
                <a:sym typeface="Armies Display"/>
              </a:rPr>
              <a:t>THATHANK</a:t>
            </a:r>
            <a:r>
              <a:rPr lang="en-US" sz="9900" dirty="0">
                <a:solidFill>
                  <a:srgbClr val="FFFFFF"/>
                </a:solidFill>
                <a:latin typeface="Armies Display"/>
                <a:ea typeface="Armies Display"/>
                <a:cs typeface="Armies Display"/>
                <a:sym typeface="Armies Display"/>
              </a:rPr>
              <a:t>ANK</a:t>
            </a:r>
          </a:p>
          <a:p>
            <a:pPr algn="l">
              <a:lnSpc>
                <a:spcPts val="10197"/>
              </a:lnSpc>
            </a:pPr>
            <a:r>
              <a:rPr lang="en-US" sz="9900" dirty="0">
                <a:solidFill>
                  <a:srgbClr val="FFFFFF"/>
                </a:solidFill>
                <a:latin typeface="Armies Display"/>
                <a:ea typeface="Armies Display"/>
                <a:cs typeface="Armies Display"/>
                <a:sym typeface="Armies Display"/>
              </a:rPr>
              <a:t>TH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51144DC9-AB70-AF20-83D1-F380CD9CBBCA}"/>
              </a:ext>
            </a:extLst>
          </p:cNvPr>
          <p:cNvSpPr txBox="1"/>
          <p:nvPr/>
        </p:nvSpPr>
        <p:spPr>
          <a:xfrm>
            <a:off x="914400" y="5781675"/>
            <a:ext cx="7620000" cy="761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AI Powered Healthcare Communication Assistant for Rural Communities</a:t>
            </a: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7460B678-4435-292D-29D6-76CCD59434EC}"/>
              </a:ext>
            </a:extLst>
          </p:cNvPr>
          <p:cNvSpPr txBox="1"/>
          <p:nvPr/>
        </p:nvSpPr>
        <p:spPr>
          <a:xfrm>
            <a:off x="914400" y="7953375"/>
            <a:ext cx="6667500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 spc="288">
                <a:solidFill>
                  <a:srgbClr val="D8EFEA"/>
                </a:solidFill>
                <a:latin typeface="Aptos Bold"/>
                <a:ea typeface="Aptos Bold"/>
                <a:cs typeface="Aptos Bold"/>
                <a:sym typeface="Aptos Bold"/>
              </a:rPr>
              <a:t>Questions &amp; 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A8B5FF-080F-3E68-F0AC-9693DA973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5194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191</TotalTime>
  <Words>507</Words>
  <Application>Microsoft Office PowerPoint</Application>
  <PresentationFormat>Widescreen</PresentationFormat>
  <Paragraphs>140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System Font Regular</vt:lpstr>
      <vt:lpstr>Inter Bold</vt:lpstr>
      <vt:lpstr>Neue Haas Grotesk Text Pro</vt:lpstr>
      <vt:lpstr>Arial</vt:lpstr>
      <vt:lpstr>DM Sans SemiBold</vt:lpstr>
      <vt:lpstr>Inter Medium</vt:lpstr>
      <vt:lpstr>Wingdings</vt:lpstr>
      <vt:lpstr>Aptos</vt:lpstr>
      <vt:lpstr>Aptos Bold</vt:lpstr>
      <vt:lpstr>Arial Black</vt:lpstr>
      <vt:lpstr>Armies Display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manogna lingala</dc:creator>
  <cp:lastModifiedBy>manogna lingala</cp:lastModifiedBy>
  <cp:revision>3</cp:revision>
  <dcterms:created xsi:type="dcterms:W3CDTF">2026-09-05T09:24:28Z</dcterms:created>
  <dcterms:modified xsi:type="dcterms:W3CDTF">2026-09-08T12:21:48Z</dcterms:modified>
</cp:coreProperties>
</file>